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4"/>
  </p:sldMasterIdLst>
  <p:notesMasterIdLst>
    <p:notesMasterId r:id="rId11"/>
  </p:notesMasterIdLst>
  <p:handoutMasterIdLst>
    <p:handoutMasterId r:id="rId12"/>
  </p:handoutMasterIdLst>
  <p:sldIdLst>
    <p:sldId id="256" r:id="rId5"/>
    <p:sldId id="261" r:id="rId6"/>
    <p:sldId id="259" r:id="rId7"/>
    <p:sldId id="272" r:id="rId8"/>
    <p:sldId id="257" r:id="rId9"/>
    <p:sldId id="25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A35F3F-1395-4D8E-89D5-BECB9713D0C4}" v="4" dt="2025-08-22T18:22:43.197"/>
    <p1510:client id="{E10469FF-EC40-40A2-B405-0C0CFB317F6C}" v="24" dt="2025-08-22T18:30:12.6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B8A4287-B52E-771A-0E39-7DDD296821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D6326F3-F878-AC47-66BD-81B8652415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0389FD-8BF7-41DD-98DF-56018C74FE9C}" type="datetimeFigureOut">
              <a:rPr lang="es-PE" smtClean="0"/>
              <a:t>11/05/2026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C072DBC-1A47-CE9F-AA63-B01E471442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6E18107-9423-38F1-17CA-7702762D2B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1BF790-3674-4D0D-8D58-667A113E1ED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00039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A8C39-C9B8-446C-BC1E-1CC4DE4767CE}" type="datetimeFigureOut">
              <a:rPr lang="es-PE" smtClean="0"/>
              <a:t>11/05/2026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000DE5-4E77-4777-A705-B6FA8A5D0FB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81388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8E16-3C03-4238-9C6F-B34F3D10F77E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53639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8E16-3C03-4238-9C6F-B34F3D10F77E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18823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8E16-3C03-4238-9C6F-B34F3D10F77E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3206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8E16-3C03-4238-9C6F-B34F3D10F77E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090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8E16-3C03-4238-9C6F-B34F3D10F77E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08988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8E16-3C03-4238-9C6F-B34F3D10F77E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1859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8E16-3C03-4238-9C6F-B34F3D10F77E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4790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8E16-3C03-4238-9C6F-B34F3D10F77E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54436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8E16-3C03-4238-9C6F-B34F3D10F77E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39553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8E16-3C03-4238-9C6F-B34F3D10F77E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54218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8E16-3C03-4238-9C6F-B34F3D10F77E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29975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0732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‹Nº›</a:t>
            </a:fld>
            <a:endParaRPr lang="en-US" dirty="0"/>
          </a:p>
        </p:txBody>
      </p: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072C12A-5A3D-E673-640A-671B4E5D41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155512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5" imgW="484" imgH="484" progId="TCLayout.ActiveDocument.1">
                  <p:embed/>
                </p:oleObj>
              </mc:Choice>
              <mc:Fallback>
                <p:oleObj name="Diapositiva de think-cell" r:id="rId15" imgW="484" imgH="48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11F513-3449-BD1D-33C7-F8490D017C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4156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jpe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0A0D689-2296-0B76-37BE-65F59270FAA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70656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84" imgH="484" progId="TCLayout.ActiveDocument.1">
                  <p:embed/>
                </p:oleObj>
              </mc:Choice>
              <mc:Fallback>
                <p:oleObj name="Diapositiva de think-cell" r:id="rId3" imgW="484" imgH="4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D5C07CC2-15DC-6C41-5726-FB09A6231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21" y="397275"/>
            <a:ext cx="2628785" cy="3761257"/>
          </a:xfrm>
        </p:spPr>
        <p:txBody>
          <a:bodyPr vert="horz" anchor="ctr">
            <a:normAutofit/>
          </a:bodyPr>
          <a:lstStyle/>
          <a:p>
            <a:r>
              <a:rPr lang="es-PE" sz="3200" dirty="0"/>
              <a:t>Business </a:t>
            </a:r>
            <a:r>
              <a:rPr lang="es-PE" sz="3200" dirty="0" err="1"/>
              <a:t>Consulting</a:t>
            </a:r>
            <a:r>
              <a:rPr lang="es-PE" sz="3200" dirty="0"/>
              <a:t> &amp; BPM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7EE82E-AC7F-48D7-AF1B-C72231C67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21" y="4846029"/>
            <a:ext cx="2550597" cy="1478402"/>
          </a:xfrm>
        </p:spPr>
        <p:txBody>
          <a:bodyPr anchor="ctr">
            <a:normAutofit/>
          </a:bodyPr>
          <a:lstStyle/>
          <a:p>
            <a:r>
              <a:rPr lang="es-PE" sz="1800" b="1" dirty="0"/>
              <a:t>Caso de Negocio y Autoevaluación de Candidatos: Villanueva Kobayashi Alvaro</a:t>
            </a:r>
          </a:p>
        </p:txBody>
      </p:sp>
      <p:pic>
        <p:nvPicPr>
          <p:cNvPr id="4" name="Picture 3" descr="Una bombilla multicolor con iconos de empresa">
            <a:extLst>
              <a:ext uri="{FF2B5EF4-FFF2-40B4-BE49-F238E27FC236}">
                <a16:creationId xmlns:a16="http://schemas.microsoft.com/office/drawing/2014/main" id="{1D84DEDC-DA05-1CEE-B477-79A9AA03768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6667" b="1"/>
          <a:stretch/>
        </p:blipFill>
        <p:spPr>
          <a:xfrm>
            <a:off x="3047998" y="10"/>
            <a:ext cx="9144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783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CB076E-3A83-A5AD-5298-693F886B7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022630" cy="243003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 err="1"/>
              <a:t>Sección</a:t>
            </a:r>
            <a:r>
              <a:rPr lang="en-US" sz="5400" dirty="0"/>
              <a:t> 1</a:t>
            </a:r>
          </a:p>
        </p:txBody>
      </p:sp>
      <p:pic>
        <p:nvPicPr>
          <p:cNvPr id="1026" name="Picture 2" descr="Tips to Ace a Strong Business Plan - My Office in Philippines">
            <a:extLst>
              <a:ext uri="{FF2B5EF4-FFF2-40B4-BE49-F238E27FC236}">
                <a16:creationId xmlns:a16="http://schemas.microsoft.com/office/drawing/2014/main" id="{02BF5019-53E4-813C-9697-35B8665406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79" r="16467" b="-1"/>
          <a:stretch/>
        </p:blipFill>
        <p:spPr bwMode="auto">
          <a:xfrm>
            <a:off x="6083644" y="10"/>
            <a:ext cx="6108356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840FF012-71DB-B308-FDE2-4E3FE64A713C}"/>
              </a:ext>
            </a:extLst>
          </p:cNvPr>
          <p:cNvSpPr txBox="1">
            <a:spLocks/>
          </p:cNvSpPr>
          <p:nvPr/>
        </p:nvSpPr>
        <p:spPr>
          <a:xfrm>
            <a:off x="873015" y="4623759"/>
            <a:ext cx="4337614" cy="73043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4800" b="1" dirty="0">
                <a:solidFill>
                  <a:schemeClr val="accent4"/>
                </a:solidFill>
              </a:rPr>
              <a:t>Caso de </a:t>
            </a:r>
            <a:r>
              <a:rPr lang="en-US" sz="4800" b="1" dirty="0" err="1">
                <a:solidFill>
                  <a:schemeClr val="accent4"/>
                </a:solidFill>
              </a:rPr>
              <a:t>Negocio</a:t>
            </a:r>
            <a:endParaRPr lang="en-US" sz="48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376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8;p31">
            <a:extLst>
              <a:ext uri="{FF2B5EF4-FFF2-40B4-BE49-F238E27FC236}">
                <a16:creationId xmlns:a16="http://schemas.microsoft.com/office/drawing/2014/main" id="{C867185D-B51A-9CEE-C9B8-DB975776C281}"/>
              </a:ext>
            </a:extLst>
          </p:cNvPr>
          <p:cNvSpPr txBox="1">
            <a:spLocks/>
          </p:cNvSpPr>
          <p:nvPr/>
        </p:nvSpPr>
        <p:spPr>
          <a:xfrm>
            <a:off x="454924" y="869165"/>
            <a:ext cx="11033700" cy="32698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PE" sz="1400" b="1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OBJETIVO</a:t>
            </a:r>
            <a:endParaRPr lang="es-E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1463" lvl="0" algn="just">
              <a:lnSpc>
                <a:spcPct val="10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s-PE" sz="1200" b="1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Analizar los datos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para identificar patrones, correlaciones o anomalías que expliquen el deterioro del indicador Time </a:t>
            </a:r>
            <a:r>
              <a:rPr lang="es-PE" sz="1200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Market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E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1463" lvl="0" algn="just">
              <a:lnSpc>
                <a:spcPct val="10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s-PE" sz="1200" b="1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Identificar posibles causas raíz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del incremento en la duración de los ciclos.</a:t>
            </a:r>
            <a:endParaRPr lang="es-E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1463" lvl="0" algn="just">
              <a:lnSpc>
                <a:spcPct val="10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s-PE" sz="1200" b="1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Proponer acciones correctivas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o planes de mejora.</a:t>
            </a:r>
            <a:endParaRPr lang="es-E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1463" lvl="0" algn="just">
              <a:lnSpc>
                <a:spcPct val="10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s-PE" sz="1200" b="1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Proponer un nuevo </a:t>
            </a:r>
            <a:r>
              <a:rPr lang="es-PE" sz="1200" b="1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Value</a:t>
            </a:r>
            <a:r>
              <a:rPr lang="es-PE" sz="1200" b="1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b="1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Stream</a:t>
            </a:r>
            <a:r>
              <a:rPr lang="es-PE" sz="1200" b="1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b="1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Mapping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(VSM), que represente el modelo propuesto (</a:t>
            </a:r>
            <a:r>
              <a:rPr lang="es-PE" sz="1200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Be), comparándolo con el modelo actual (As </a:t>
            </a:r>
            <a:r>
              <a:rPr lang="es-PE" sz="1200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s-E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1463" lvl="0" algn="just">
              <a:lnSpc>
                <a:spcPct val="10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s-PE" sz="1200" b="1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Presentar las conclusiones y hallazgos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a distintos niveles (técnico y ejecutivo).</a:t>
            </a:r>
            <a:endParaRPr lang="es-E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1463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Con el desarrollo de los puntos anteriores, se evaluarán habilidades técnicas, de </a:t>
            </a:r>
            <a:r>
              <a:rPr lang="es-PE" sz="1200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problem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solving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, comunicación multinivel, pensamiento crítico y visión de mejora continua.</a:t>
            </a:r>
            <a:endParaRPr lang="es-E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 startAt="2"/>
            </a:pPr>
            <a:r>
              <a:rPr lang="es-PE" sz="1400" b="1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PRESENTACIÓN DEL CASO</a:t>
            </a:r>
            <a:endParaRPr lang="es-E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Queremos analizar un problema relacionado con el indicador </a:t>
            </a:r>
            <a:r>
              <a:rPr lang="es-PE" sz="1200" b="1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Time </a:t>
            </a:r>
            <a:r>
              <a:rPr lang="es-PE" sz="1200" b="1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s-PE" sz="1200" b="1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b="1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Market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, que mide el tiempo que tarda un equipo de desarrollo en llevar una funcionalidad desde su concepción hasta su pase a producción.</a:t>
            </a:r>
            <a:endParaRPr lang="es-E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Hemos notado un </a:t>
            </a:r>
            <a:r>
              <a:rPr lang="es-PE" sz="1200" b="1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deterioro progresivo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en este indicador durante los últimos meses, y queremos entender por qué está ocurriendo. Para ello, te compartimos el archivo </a:t>
            </a:r>
            <a:r>
              <a:rPr lang="es-PE" sz="1200" dirty="0">
                <a:solidFill>
                  <a:srgbClr val="3333FF"/>
                </a:solidFill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time_to_market_analysis.xlsx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con datos históricos </a:t>
            </a:r>
            <a:r>
              <a:rPr lang="es-PE" sz="1200" b="1" u="sng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ficticios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, correspondientes al periodo de </a:t>
            </a:r>
            <a:r>
              <a:rPr lang="es-PE" sz="1200" b="1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enero a junio de 2023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 Cada registro incluye variables como:</a:t>
            </a:r>
            <a:endParaRPr lang="es-E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Flexo" pitchFamily="50" charset="0"/>
              <a:buChar char="-"/>
            </a:pPr>
            <a:r>
              <a:rPr lang="es-PE" sz="1200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Release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date: fecha de pase a producción.</a:t>
            </a:r>
            <a:endParaRPr lang="es-E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Flexo" pitchFamily="50" charset="0"/>
              <a:buChar char="-"/>
            </a:pPr>
            <a:r>
              <a:rPr lang="es-PE" sz="1200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Cycle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duration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(días): duración del ciclo de desarrollo (indicador Time </a:t>
            </a:r>
            <a:r>
              <a:rPr lang="es-PE" sz="1200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Market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s-E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Flexo" pitchFamily="50" charset="0"/>
              <a:buChar char="-"/>
            </a:pP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Tipo de pase: diferencia el tipo de ticket </a:t>
            </a:r>
            <a:r>
              <a:rPr lang="es-PE" sz="1200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Legacy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, del tipo Automatizado.</a:t>
            </a:r>
            <a:endParaRPr lang="es-E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Flexo" pitchFamily="50" charset="0"/>
              <a:buChar char="-"/>
            </a:pPr>
            <a:r>
              <a:rPr lang="es-PE" sz="1200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Number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incidents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: número de incidencias reportadas durante el ciclo.</a:t>
            </a:r>
            <a:endParaRPr lang="es-E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Flexo" pitchFamily="50" charset="0"/>
              <a:buChar char="-"/>
            </a:pPr>
            <a:r>
              <a:rPr lang="es-PE" sz="1200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Scope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changes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: cambios de alcance durante el desarrollo.</a:t>
            </a:r>
            <a:endParaRPr lang="es-E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Flexo" pitchFamily="50" charset="0"/>
              <a:buChar char="-"/>
            </a:pPr>
            <a:r>
              <a:rPr lang="es-PE" sz="1200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Team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availability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: disponibilidad del equipo (porcentual).</a:t>
            </a:r>
            <a:endParaRPr lang="es-E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Flexo" pitchFamily="50" charset="0"/>
              <a:buChar char="-"/>
            </a:pPr>
            <a:r>
              <a:rPr lang="es-PE" sz="1200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Other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dirty="0" err="1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factors</a:t>
            </a:r>
            <a:r>
              <a:rPr lang="es-PE" sz="1200" dirty="0">
                <a:effectLst/>
                <a:latin typeface="Flexo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: factores adicionales que podrían influir, o no.</a:t>
            </a:r>
            <a:endParaRPr lang="es-E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7000">
              <a:spcBef>
                <a:spcPts val="0"/>
              </a:spcBef>
              <a:buSzPts val="1600"/>
            </a:pPr>
            <a:endParaRPr lang="es-PE" sz="1400" dirty="0"/>
          </a:p>
        </p:txBody>
      </p:sp>
      <p:sp>
        <p:nvSpPr>
          <p:cNvPr id="3" name="Google Shape;177;p31">
            <a:extLst>
              <a:ext uri="{FF2B5EF4-FFF2-40B4-BE49-F238E27FC236}">
                <a16:creationId xmlns:a16="http://schemas.microsoft.com/office/drawing/2014/main" id="{7F9A9E90-CE51-2A2D-1138-66BC52D77ECC}"/>
              </a:ext>
            </a:extLst>
          </p:cNvPr>
          <p:cNvSpPr txBox="1">
            <a:spLocks/>
          </p:cNvSpPr>
          <p:nvPr/>
        </p:nvSpPr>
        <p:spPr>
          <a:xfrm>
            <a:off x="454924" y="313400"/>
            <a:ext cx="10768041" cy="4629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400" dirty="0">
                <a:solidFill>
                  <a:srgbClr val="0070C0"/>
                </a:solidFill>
              </a:rPr>
              <a:t>“</a:t>
            </a:r>
            <a:r>
              <a:rPr lang="en-US" sz="2400" dirty="0" err="1">
                <a:solidFill>
                  <a:srgbClr val="0070C0"/>
                </a:solidFill>
              </a:rPr>
              <a:t>Reducción</a:t>
            </a:r>
            <a:r>
              <a:rPr lang="en-US" sz="2400" dirty="0">
                <a:solidFill>
                  <a:srgbClr val="0070C0"/>
                </a:solidFill>
              </a:rPr>
              <a:t> del Time to Market”</a:t>
            </a:r>
          </a:p>
        </p:txBody>
      </p:sp>
    </p:spTree>
    <p:extLst>
      <p:ext uri="{BB962C8B-B14F-4D97-AF65-F5344CB8AC3E}">
        <p14:creationId xmlns:p14="http://schemas.microsoft.com/office/powerpoint/2010/main" val="1566954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E7D9B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kern="0" spc="267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REDUCCIÓN DEL TIME TO MARKET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60960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Multi-Variable sobre 6,000 Releases | BCP Process Champion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7680" y="1341120"/>
            <a:ext cx="1584960" cy="1341120"/>
          </a:xfrm>
          <a:prstGeom prst="rect">
            <a:avLst/>
          </a:prstGeom>
          <a:solidFill>
            <a:srgbClr val="1A23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PE" sz="2400"/>
          </a:p>
        </p:txBody>
      </p:sp>
      <p:sp>
        <p:nvSpPr>
          <p:cNvPr id="6" name="Shape 4"/>
          <p:cNvSpPr/>
          <p:nvPr/>
        </p:nvSpPr>
        <p:spPr>
          <a:xfrm>
            <a:off x="487680" y="1341120"/>
            <a:ext cx="1584960" cy="6096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7" name="Text 5"/>
          <p:cNvSpPr/>
          <p:nvPr/>
        </p:nvSpPr>
        <p:spPr>
          <a:xfrm>
            <a:off x="487680" y="1463040"/>
            <a:ext cx="1584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E74C3C"/>
                </a:solidFill>
              </a:rPr>
              <a:t>+65%</a:t>
            </a:r>
            <a:endParaRPr lang="en-US" sz="3733" dirty="0"/>
          </a:p>
          <a:p>
            <a:pPr algn="ctr"/>
            <a:r>
              <a:rPr lang="en-US" sz="1067" dirty="0">
                <a:solidFill>
                  <a:srgbClr val="B8C4D4"/>
                </a:solidFill>
              </a:rPr>
              <a:t> V% TTM Ene→Jun</a:t>
            </a:r>
            <a:endParaRPr lang="en-US" sz="3733" dirty="0"/>
          </a:p>
        </p:txBody>
      </p:sp>
      <p:sp>
        <p:nvSpPr>
          <p:cNvPr id="8" name="Shape 6"/>
          <p:cNvSpPr/>
          <p:nvPr/>
        </p:nvSpPr>
        <p:spPr>
          <a:xfrm>
            <a:off x="2255520" y="1341120"/>
            <a:ext cx="1584960" cy="1341120"/>
          </a:xfrm>
          <a:prstGeom prst="rect">
            <a:avLst/>
          </a:prstGeom>
          <a:solidFill>
            <a:srgbClr val="1A23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PE" sz="2400"/>
          </a:p>
        </p:txBody>
      </p:sp>
      <p:sp>
        <p:nvSpPr>
          <p:cNvPr id="9" name="Shape 7"/>
          <p:cNvSpPr/>
          <p:nvPr/>
        </p:nvSpPr>
        <p:spPr>
          <a:xfrm>
            <a:off x="2255520" y="1341120"/>
            <a:ext cx="1584960" cy="6096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0" name="Text 8"/>
          <p:cNvSpPr/>
          <p:nvPr/>
        </p:nvSpPr>
        <p:spPr>
          <a:xfrm>
            <a:off x="2255520" y="1463040"/>
            <a:ext cx="1584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39C12"/>
                </a:solidFill>
              </a:rPr>
              <a:t>95→54%</a:t>
            </a:r>
            <a:endParaRPr lang="en-US" sz="2400" dirty="0"/>
          </a:p>
          <a:p>
            <a:pPr algn="ctr"/>
            <a:r>
              <a:rPr lang="en-US" sz="1067" dirty="0">
                <a:solidFill>
                  <a:srgbClr val="B8C4D4"/>
                </a:solidFill>
              </a:rPr>
              <a:t> I% </a:t>
            </a:r>
            <a:r>
              <a:rPr lang="en-US" sz="1067" dirty="0" err="1">
                <a:solidFill>
                  <a:srgbClr val="B8C4D4"/>
                </a:solidFill>
              </a:rPr>
              <a:t>Disponibilidad</a:t>
            </a:r>
            <a:r>
              <a:rPr lang="en-US" sz="1067" dirty="0">
                <a:solidFill>
                  <a:srgbClr val="B8C4D4"/>
                </a:solidFill>
              </a:rPr>
              <a:t> </a:t>
            </a:r>
          </a:p>
          <a:p>
            <a:pPr algn="ctr"/>
            <a:r>
              <a:rPr lang="en-US" sz="1067" dirty="0" err="1">
                <a:solidFill>
                  <a:srgbClr val="B8C4D4"/>
                </a:solidFill>
              </a:rPr>
              <a:t>Ene→Jun</a:t>
            </a:r>
            <a:endParaRPr lang="en-US" sz="1067" dirty="0">
              <a:solidFill>
                <a:srgbClr val="B8C4D4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2865120"/>
            <a:ext cx="1584960" cy="1341120"/>
          </a:xfrm>
          <a:prstGeom prst="rect">
            <a:avLst/>
          </a:prstGeom>
          <a:solidFill>
            <a:srgbClr val="1A23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PE" sz="2400"/>
          </a:p>
        </p:txBody>
      </p:sp>
      <p:sp>
        <p:nvSpPr>
          <p:cNvPr id="12" name="Shape 10"/>
          <p:cNvSpPr/>
          <p:nvPr/>
        </p:nvSpPr>
        <p:spPr>
          <a:xfrm>
            <a:off x="487680" y="2865120"/>
            <a:ext cx="1584960" cy="6096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3" name="Text 11"/>
          <p:cNvSpPr/>
          <p:nvPr/>
        </p:nvSpPr>
        <p:spPr>
          <a:xfrm>
            <a:off x="487680" y="2987040"/>
            <a:ext cx="1584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39C12"/>
                </a:solidFill>
              </a:rPr>
              <a:t>3.5→9.3</a:t>
            </a:r>
            <a:endParaRPr lang="en-US" sz="2400" dirty="0"/>
          </a:p>
          <a:p>
            <a:pPr algn="ctr"/>
            <a:r>
              <a:rPr lang="en-US" sz="1067" dirty="0">
                <a:solidFill>
                  <a:srgbClr val="B8C4D4"/>
                </a:solidFill>
              </a:rPr>
              <a:t>P. </a:t>
            </a:r>
            <a:r>
              <a:rPr lang="en-US" sz="1067" dirty="0" err="1">
                <a:solidFill>
                  <a:srgbClr val="B8C4D4"/>
                </a:solidFill>
              </a:rPr>
              <a:t>Incidentes</a:t>
            </a:r>
            <a:r>
              <a:rPr lang="en-US" sz="1067" dirty="0">
                <a:solidFill>
                  <a:srgbClr val="B8C4D4"/>
                </a:solidFill>
              </a:rPr>
              <a:t>/Rel </a:t>
            </a:r>
          </a:p>
          <a:p>
            <a:pPr algn="ctr"/>
            <a:r>
              <a:rPr lang="en-US" sz="1067" dirty="0" err="1">
                <a:solidFill>
                  <a:srgbClr val="B8C4D4"/>
                </a:solidFill>
              </a:rPr>
              <a:t>Ene→Jun</a:t>
            </a:r>
            <a:endParaRPr lang="en-US" sz="1067" dirty="0">
              <a:solidFill>
                <a:srgbClr val="B8C4D4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255520" y="2865120"/>
            <a:ext cx="1584960" cy="1341120"/>
          </a:xfrm>
          <a:prstGeom prst="rect">
            <a:avLst/>
          </a:prstGeom>
          <a:solidFill>
            <a:srgbClr val="1A23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PE" sz="2400"/>
          </a:p>
        </p:txBody>
      </p:sp>
      <p:sp>
        <p:nvSpPr>
          <p:cNvPr id="15" name="Shape 13"/>
          <p:cNvSpPr/>
          <p:nvPr/>
        </p:nvSpPr>
        <p:spPr>
          <a:xfrm>
            <a:off x="2255520" y="2865120"/>
            <a:ext cx="1584960" cy="60960"/>
          </a:xfrm>
          <a:prstGeom prst="rect">
            <a:avLst/>
          </a:prstGeom>
          <a:solidFill>
            <a:srgbClr val="95A5A6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6" name="Text 14"/>
          <p:cNvSpPr/>
          <p:nvPr/>
        </p:nvSpPr>
        <p:spPr>
          <a:xfrm>
            <a:off x="2255520" y="2987040"/>
            <a:ext cx="1584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95A5A6"/>
                </a:solidFill>
              </a:rPr>
              <a:t>R² &lt; 0.1%</a:t>
            </a:r>
            <a:endParaRPr lang="en-US" sz="2133" dirty="0"/>
          </a:p>
          <a:p>
            <a:pPr algn="ctr"/>
            <a:r>
              <a:rPr lang="en-US" sz="1067" dirty="0">
                <a:solidFill>
                  <a:srgbClr val="B8C4D4"/>
                </a:solidFill>
              </a:rPr>
              <a:t>Scope Changes</a:t>
            </a:r>
            <a:endParaRPr lang="en-US" sz="2133" dirty="0"/>
          </a:p>
          <a:p>
            <a:pPr algn="ctr"/>
            <a:r>
              <a:rPr lang="en-US" sz="933" dirty="0">
                <a:solidFill>
                  <a:srgbClr val="777777"/>
                </a:solidFill>
              </a:rPr>
              <a:t>Estable ~2/rel</a:t>
            </a:r>
            <a:endParaRPr lang="en-US" sz="2133" dirty="0"/>
          </a:p>
          <a:p>
            <a:pPr algn="ctr"/>
            <a:r>
              <a:rPr lang="en-US" sz="933" dirty="0">
                <a:solidFill>
                  <a:srgbClr val="777777"/>
                </a:solidFill>
              </a:rPr>
              <a:t>Sin impacto en TTM</a:t>
            </a:r>
            <a:endParaRPr lang="en-US" sz="2133" dirty="0"/>
          </a:p>
        </p:txBody>
      </p:sp>
      <p:sp>
        <p:nvSpPr>
          <p:cNvPr id="17" name="Shape 15"/>
          <p:cNvSpPr/>
          <p:nvPr/>
        </p:nvSpPr>
        <p:spPr>
          <a:xfrm>
            <a:off x="4145280" y="1341120"/>
            <a:ext cx="7559040" cy="2865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PE" sz="2400"/>
          </a:p>
        </p:txBody>
      </p:sp>
      <p:pic>
        <p:nvPicPr>
          <p:cNvPr id="18" name="Image 0" descr="/sessions/zen-awesome-carson/bcp_pptx/chart_ttm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402080"/>
            <a:ext cx="7315200" cy="27432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87680" y="4328160"/>
            <a:ext cx="5852160" cy="2255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PE" sz="2400"/>
          </a:p>
        </p:txBody>
      </p:sp>
      <p:pic>
        <p:nvPicPr>
          <p:cNvPr id="20" name="Image 1" descr="/sessions/zen-awesome-carson/bcp_pptx/chart_pare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89120"/>
            <a:ext cx="5730240" cy="21336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583680" y="4346448"/>
            <a:ext cx="5120640" cy="2255520"/>
          </a:xfrm>
          <a:prstGeom prst="rect">
            <a:avLst/>
          </a:prstGeom>
          <a:solidFill>
            <a:srgbClr val="1A23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PE" sz="2400"/>
          </a:p>
        </p:txBody>
      </p:sp>
      <p:sp>
        <p:nvSpPr>
          <p:cNvPr id="22" name="Shape 18"/>
          <p:cNvSpPr/>
          <p:nvPr/>
        </p:nvSpPr>
        <p:spPr>
          <a:xfrm>
            <a:off x="6583680" y="4346448"/>
            <a:ext cx="73152" cy="2255520"/>
          </a:xfrm>
          <a:prstGeom prst="rect">
            <a:avLst/>
          </a:prstGeom>
          <a:solidFill>
            <a:srgbClr val="2E7D9B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23" name="Text 19"/>
          <p:cNvSpPr/>
          <p:nvPr/>
        </p:nvSpPr>
        <p:spPr>
          <a:xfrm>
            <a:off x="6827520" y="4407408"/>
            <a:ext cx="469392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E7D9B"/>
                </a:solidFill>
              </a:rPr>
              <a:t>HALLAZGO CLAVE </a:t>
            </a:r>
            <a:endParaRPr lang="en-US" sz="1467" dirty="0"/>
          </a:p>
          <a:p>
            <a:r>
              <a:rPr lang="en-US" sz="533" dirty="0">
                <a:solidFill>
                  <a:srgbClr val="000000"/>
                </a:solidFill>
              </a:rPr>
              <a:t> </a:t>
            </a:r>
            <a:endParaRPr lang="en-US" sz="1467" dirty="0"/>
          </a:p>
          <a:p>
            <a:r>
              <a:rPr lang="en-US" sz="1333" dirty="0">
                <a:solidFill>
                  <a:srgbClr val="B8C4D4"/>
                </a:solidFill>
              </a:rPr>
              <a:t>Se evaluaron las 4 variables del dataset:</a:t>
            </a:r>
            <a:endParaRPr lang="en-US" sz="1467" dirty="0"/>
          </a:p>
          <a:p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467" dirty="0"/>
          </a:p>
          <a:p>
            <a:r>
              <a:rPr lang="en-US" sz="1333" b="1" dirty="0">
                <a:solidFill>
                  <a:srgbClr val="E74C3C"/>
                </a:solidFill>
              </a:rPr>
              <a:t>1. Team Availability → R² = 62.8%</a:t>
            </a:r>
            <a:endParaRPr lang="en-US" sz="1467" dirty="0"/>
          </a:p>
          <a:p>
            <a:r>
              <a:rPr lang="en-US" sz="1333" b="1" dirty="0">
                <a:solidFill>
                  <a:srgbClr val="F39C12"/>
                </a:solidFill>
              </a:rPr>
              <a:t>2. Nº Incidentes → R² = 53.7%</a:t>
            </a:r>
            <a:endParaRPr lang="en-US" sz="1467" dirty="0"/>
          </a:p>
          <a:p>
            <a:r>
              <a:rPr lang="en-US" sz="1333" dirty="0">
                <a:solidFill>
                  <a:srgbClr val="95A5A6"/>
                </a:solidFill>
              </a:rPr>
              <a:t>3. Scope Changes → R² &lt; 0.1%</a:t>
            </a:r>
            <a:endParaRPr lang="en-US" sz="1467" dirty="0"/>
          </a:p>
          <a:p>
            <a:r>
              <a:rPr lang="en-US" sz="1333" dirty="0">
                <a:solidFill>
                  <a:srgbClr val="95A5A6"/>
                </a:solidFill>
              </a:rPr>
              <a:t>4. Other Factors → R² &lt; 0.1%</a:t>
            </a:r>
            <a:endParaRPr lang="en-US" sz="1467" dirty="0"/>
          </a:p>
          <a:p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467" dirty="0"/>
          </a:p>
          <a:p>
            <a:r>
              <a:rPr lang="en-US" sz="1333" i="1" dirty="0">
                <a:solidFill>
                  <a:srgbClr val="CADCFC"/>
                </a:solidFill>
              </a:rPr>
              <a:t>Modelo múltiple (4 vars): R² = 65.6%</a:t>
            </a:r>
            <a:endParaRPr lang="en-US" sz="1467" dirty="0"/>
          </a:p>
        </p:txBody>
      </p:sp>
      <p:sp>
        <p:nvSpPr>
          <p:cNvPr id="24" name="Text 20"/>
          <p:cNvSpPr/>
          <p:nvPr/>
        </p:nvSpPr>
        <p:spPr>
          <a:xfrm>
            <a:off x="487680" y="6559296"/>
            <a:ext cx="4963209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6,000 releases (Ene-Jun 2023) | Análisis: Python + Regresión Lineal + Correlación Pearson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3" name="Text 1"/>
          <p:cNvSpPr/>
          <p:nvPr/>
        </p:nvSpPr>
        <p:spPr>
          <a:xfrm>
            <a:off x="609600" y="146304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kern="0" spc="133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DIAGNÓSTICO: CAUSAS RAÍZ &amp; VALUE STREAM 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633984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bivariado completo + Clasificación AV/NAV + Propuesta To-Be</a:t>
            </a:r>
            <a:endParaRPr lang="en-US" sz="1333" dirty="0"/>
          </a:p>
        </p:txBody>
      </p:sp>
      <p:pic>
        <p:nvPicPr>
          <p:cNvPr id="5" name="Image 0" descr="/sessions/zen-awesome-carson/bcp_pptx/chart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19200"/>
            <a:ext cx="5669280" cy="2804160"/>
          </a:xfrm>
          <a:prstGeom prst="rect">
            <a:avLst/>
          </a:prstGeom>
        </p:spPr>
      </p:pic>
      <p:pic>
        <p:nvPicPr>
          <p:cNvPr id="6" name="Image 1" descr="/sessions/zen-awesome-carson/bcp_pptx/chart_incid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19200"/>
            <a:ext cx="5669280" cy="2804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16633" y="4017264"/>
            <a:ext cx="5608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TO-BE: CLASIFICACIÓN AV/NAV &amp; HERRAMIENTAS</a:t>
            </a:r>
            <a:endParaRPr lang="en-US" sz="1333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697012"/>
              </p:ext>
            </p:extLst>
          </p:nvPr>
        </p:nvGraphicFramePr>
        <p:xfrm>
          <a:off x="6516633" y="4364736"/>
          <a:ext cx="5608320" cy="201168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ETAPA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AS-IS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TO-BE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TIPO MUDA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HERRAMIENTA TO-BE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Requerimientos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74C3C"/>
                          </a:solidFill>
                        </a:rPr>
                        <a:t>Espera (NAV)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JIRA + n8n Automation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Diseño Técnico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10d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7AE60"/>
                          </a:solidFill>
                        </a:rPr>
                        <a:t>— (AV)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Confluence Templates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Desarrollo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20d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7AE60"/>
                          </a:solidFill>
                        </a:rPr>
                        <a:t>— (AV)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Git + CI/CD + Pair Prog.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Testing + QA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10d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74C3C"/>
                          </a:solidFill>
                        </a:rPr>
                        <a:t>Inspección (NAV)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Selenium + Jenkins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Deploy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1d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0.5d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39C12"/>
                          </a:solidFill>
                        </a:rPr>
                        <a:t>Transporte (NAV)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Jenkins Pipeline</a:t>
                      </a:r>
                      <a:endParaRPr lang="en-US" sz="9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46d</a:t>
                      </a:r>
                      <a:endParaRPr lang="en-US" sz="10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22.5d</a:t>
                      </a:r>
                      <a:endParaRPr lang="en-US" sz="10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-51.1%</a:t>
                      </a:r>
                      <a:endParaRPr lang="en-US" sz="10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Python + n8n</a:t>
                      </a:r>
                      <a:endParaRPr lang="en-US" sz="10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160329" y="4084320"/>
            <a:ext cx="2894705" cy="225552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PE" sz="2400"/>
          </a:p>
        </p:txBody>
      </p:sp>
      <p:sp>
        <p:nvSpPr>
          <p:cNvPr id="10" name="Shape 5"/>
          <p:cNvSpPr/>
          <p:nvPr/>
        </p:nvSpPr>
        <p:spPr>
          <a:xfrm>
            <a:off x="160330" y="4084320"/>
            <a:ext cx="67273" cy="2255520"/>
          </a:xfrm>
          <a:prstGeom prst="rect">
            <a:avLst/>
          </a:prstGeom>
          <a:solidFill>
            <a:srgbClr val="2E7D9B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1" name="Text 6"/>
          <p:cNvSpPr/>
          <p:nvPr/>
        </p:nvSpPr>
        <p:spPr>
          <a:xfrm>
            <a:off x="343209" y="4145280"/>
            <a:ext cx="259622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761"/>
                </a:solidFill>
              </a:rPr>
              <a:t>MODELOS DE REGRESIÓN</a:t>
            </a:r>
            <a:endParaRPr lang="en-US" sz="1200" dirty="0"/>
          </a:p>
          <a:p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r>
              <a:rPr lang="en-US" sz="1133" b="1" dirty="0">
                <a:solidFill>
                  <a:srgbClr val="444444"/>
                </a:solidFill>
              </a:rPr>
              <a:t>Simple (Disponibilidad):</a:t>
            </a:r>
            <a:endParaRPr lang="en-US" sz="1200" dirty="0"/>
          </a:p>
          <a:p>
            <a:r>
              <a:rPr lang="en-US" sz="1200" b="1" dirty="0">
                <a:solidFill>
                  <a:srgbClr val="E74C3C"/>
                </a:solidFill>
              </a:rPr>
              <a:t>D = 41.3 − 0.27 × Avail(%)</a:t>
            </a:r>
            <a:endParaRPr lang="en-US" sz="1200" dirty="0"/>
          </a:p>
          <a:p>
            <a:r>
              <a:rPr lang="en-US" sz="1067" dirty="0">
                <a:solidFill>
                  <a:srgbClr val="666666"/>
                </a:solidFill>
              </a:rPr>
              <a:t>R² = 0.628  |  p &lt; 0.001</a:t>
            </a:r>
            <a:endParaRPr lang="en-US" sz="1200" dirty="0"/>
          </a:p>
          <a:p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r>
              <a:rPr lang="en-US" sz="1133" b="1" dirty="0">
                <a:solidFill>
                  <a:srgbClr val="444444"/>
                </a:solidFill>
              </a:rPr>
              <a:t>Simple (Incidentes):</a:t>
            </a:r>
            <a:endParaRPr lang="en-US" sz="1200" dirty="0"/>
          </a:p>
          <a:p>
            <a:r>
              <a:rPr lang="en-US" sz="1200" b="1" dirty="0">
                <a:solidFill>
                  <a:srgbClr val="F39C12"/>
                </a:solidFill>
              </a:rPr>
              <a:t>D = 16.3 + 0.82 × Incidents</a:t>
            </a:r>
            <a:endParaRPr lang="en-US" sz="1200" dirty="0"/>
          </a:p>
          <a:p>
            <a:r>
              <a:rPr lang="en-US" sz="1067" dirty="0">
                <a:solidFill>
                  <a:srgbClr val="666666"/>
                </a:solidFill>
              </a:rPr>
              <a:t>R² = 0.537  |  p &lt; 0.001</a:t>
            </a:r>
            <a:endParaRPr lang="en-US" sz="1200" dirty="0"/>
          </a:p>
          <a:p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r>
              <a:rPr lang="en-US" sz="1200" b="1" dirty="0">
                <a:solidFill>
                  <a:srgbClr val="2E7D9B"/>
                </a:solidFill>
              </a:rPr>
              <a:t>Múltiple (4 variables): R² = 0.656</a:t>
            </a:r>
            <a:endParaRPr lang="en-US" sz="1200" dirty="0"/>
          </a:p>
          <a:p>
            <a:r>
              <a:rPr lang="en-US" sz="267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r>
              <a:rPr lang="en-US" sz="1000" i="1" dirty="0">
                <a:solidFill>
                  <a:srgbClr val="888888"/>
                </a:solidFill>
              </a:rPr>
              <a:t>Tipo de Pase: sin diferencia significativa</a:t>
            </a:r>
            <a:endParaRPr lang="en-US" sz="1200" dirty="0"/>
          </a:p>
          <a:p>
            <a:r>
              <a:rPr lang="en-US" sz="1000" i="1" dirty="0">
                <a:solidFill>
                  <a:srgbClr val="888888"/>
                </a:solidFill>
              </a:rPr>
              <a:t>(AUTOMATIZADO: 20.9d vs LEGACY: 20.9d)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87680" y="6467856"/>
            <a:ext cx="112166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Lean: AV = Agrega Valor | NAV = No Agrega Valor | Muda: Espera, Inspección, Transporte | Tipo de Pase evaluado sin impacto significativo</a:t>
            </a:r>
            <a:endParaRPr lang="en-US" sz="1000" dirty="0"/>
          </a:p>
        </p:txBody>
      </p:sp>
      <p:pic>
        <p:nvPicPr>
          <p:cNvPr id="15" name="Image 1" descr="/sessions/zen-awesome-carson/bcp_pptx/chart_segments.png">
            <a:extLst>
              <a:ext uri="{FF2B5EF4-FFF2-40B4-BE49-F238E27FC236}">
                <a16:creationId xmlns:a16="http://schemas.microsoft.com/office/drawing/2014/main" id="{44B07866-4E8B-B14B-44A0-008D840373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0126" y="4175760"/>
            <a:ext cx="3135809" cy="2072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kern="0" spc="267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DE ACCIÓN &amp; BUSINESS 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600" y="73152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</a:t>
            </a:r>
            <a:r>
              <a:rPr lang="en-US" sz="1467" i="1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de implementación en 3 </a:t>
            </a:r>
            <a:r>
              <a:rPr lang="en-US" sz="1467" i="1" dirty="0" err="1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fases</a:t>
            </a:r>
            <a:r>
              <a:rPr lang="en-US" sz="1467" i="1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 | </a:t>
            </a:r>
            <a:r>
              <a:rPr lang="es-PE" sz="1467" i="1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≈ (</a:t>
            </a:r>
            <a:r>
              <a:rPr lang="en-US" sz="1467" i="1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60 días) para </a:t>
            </a:r>
            <a:r>
              <a:rPr lang="en-US" sz="1467" i="1" dirty="0" err="1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resultado</a:t>
            </a:r>
            <a:r>
              <a:rPr lang="en-US" sz="1467" i="1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67" i="1" dirty="0" err="1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medible</a:t>
            </a:r>
            <a:r>
              <a:rPr lang="en-US" sz="1467" i="1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 | El To-Be </a:t>
            </a:r>
            <a:r>
              <a:rPr lang="en-US" sz="1467" i="1" dirty="0" err="1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tarda</a:t>
            </a:r>
            <a:r>
              <a:rPr lang="en-US" sz="1467" i="1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 22.5d </a:t>
            </a:r>
            <a:r>
              <a:rPr lang="en-US" sz="1467" i="1" dirty="0" err="1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por</a:t>
            </a:r>
            <a:r>
              <a:rPr lang="en-US" sz="1467" i="1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 release </a:t>
            </a:r>
            <a:r>
              <a:rPr lang="en-US" sz="1467" i="1" dirty="0" err="1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una</a:t>
            </a:r>
            <a:r>
              <a:rPr lang="en-US" sz="1467" i="1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67" i="1" dirty="0" err="1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vez</a:t>
            </a:r>
            <a:r>
              <a:rPr lang="en-US" sz="1467" i="1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67" i="1" dirty="0" err="1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implementado</a:t>
            </a:r>
            <a:endParaRPr lang="en-US" sz="1467" i="1" dirty="0">
              <a:solidFill>
                <a:srgbClr val="CADCFC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051560"/>
            <a:ext cx="3596640" cy="2210941"/>
          </a:xfrm>
          <a:prstGeom prst="rect">
            <a:avLst/>
          </a:prstGeom>
          <a:solidFill>
            <a:srgbClr val="1A23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PE" sz="2400"/>
          </a:p>
        </p:txBody>
      </p:sp>
      <p:sp>
        <p:nvSpPr>
          <p:cNvPr id="6" name="Shape 4"/>
          <p:cNvSpPr/>
          <p:nvPr/>
        </p:nvSpPr>
        <p:spPr>
          <a:xfrm>
            <a:off x="487680" y="1051560"/>
            <a:ext cx="3596640" cy="6096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7" name="Text 5"/>
          <p:cNvSpPr/>
          <p:nvPr/>
        </p:nvSpPr>
        <p:spPr>
          <a:xfrm>
            <a:off x="633984" y="12100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1: QUICK WINS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3984" y="1575816"/>
            <a:ext cx="1706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0-20 días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575816"/>
            <a:ext cx="1280160" cy="268224"/>
          </a:xfrm>
          <a:prstGeom prst="rect">
            <a:avLst/>
          </a:prstGeom>
          <a:solidFill>
            <a:srgbClr val="E74C3C">
              <a:alpha val="20000"/>
            </a:srgbClr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0" name="Text 8"/>
          <p:cNvSpPr/>
          <p:nvPr/>
        </p:nvSpPr>
        <p:spPr>
          <a:xfrm>
            <a:off x="2560320" y="1575816"/>
            <a:ext cx="12801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609600" y="202692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200" dirty="0">
                <a:solidFill>
                  <a:srgbClr val="B8C4D4"/>
                </a:solidFill>
              </a:rPr>
              <a:t> Maximizar disponibilidad &gt;85%</a:t>
            </a:r>
            <a:endParaRPr lang="en-US" sz="1200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200" dirty="0">
                <a:solidFill>
                  <a:srgbClr val="B8C4D4"/>
                </a:solidFill>
              </a:rPr>
              <a:t> Monitoreo en tiempo real (Python)</a:t>
            </a:r>
            <a:endParaRPr lang="en-US" sz="1200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200" dirty="0">
                <a:solidFill>
                  <a:srgbClr val="B8C4D4"/>
                </a:solidFill>
              </a:rPr>
              <a:t> Alerta automática &lt;70% </a:t>
            </a:r>
            <a:r>
              <a:rPr lang="en-US" sz="1067" dirty="0">
                <a:solidFill>
                  <a:srgbClr val="B8C4D4"/>
                </a:solidFill>
              </a:rPr>
              <a:t>(</a:t>
            </a:r>
            <a:r>
              <a:rPr lang="es-PE" sz="1067" dirty="0">
                <a:solidFill>
                  <a:srgbClr val="B8C4D4"/>
                </a:solidFill>
              </a:rPr>
              <a:t>alert_process_automation.py)</a:t>
            </a:r>
            <a:endParaRPr lang="en-US" sz="1067" dirty="0">
              <a:solidFill>
                <a:srgbClr val="B8C4D4"/>
              </a:solidFill>
            </a:endParaRP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200" dirty="0">
                <a:solidFill>
                  <a:srgbClr val="B8C4D4"/>
                </a:solidFill>
              </a:rPr>
              <a:t> Estabilizar incidentes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28160" y="1051559"/>
            <a:ext cx="3596640" cy="2210943"/>
          </a:xfrm>
          <a:prstGeom prst="rect">
            <a:avLst/>
          </a:prstGeom>
          <a:solidFill>
            <a:srgbClr val="1A23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PE" sz="2400"/>
          </a:p>
        </p:txBody>
      </p:sp>
      <p:sp>
        <p:nvSpPr>
          <p:cNvPr id="13" name="Shape 11"/>
          <p:cNvSpPr/>
          <p:nvPr/>
        </p:nvSpPr>
        <p:spPr>
          <a:xfrm>
            <a:off x="4328160" y="1051560"/>
            <a:ext cx="3596640" cy="6096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4" name="Text 12"/>
          <p:cNvSpPr/>
          <p:nvPr/>
        </p:nvSpPr>
        <p:spPr>
          <a:xfrm>
            <a:off x="4474464" y="12100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2: OPTIMIZACIÓN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74464" y="1575816"/>
            <a:ext cx="1706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20-40 días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1575816"/>
            <a:ext cx="1280160" cy="268224"/>
          </a:xfrm>
          <a:prstGeom prst="rect">
            <a:avLst/>
          </a:prstGeom>
          <a:solidFill>
            <a:srgbClr val="F39C12">
              <a:alpha val="20000"/>
            </a:srgbClr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7" name="Text 15"/>
          <p:cNvSpPr/>
          <p:nvPr/>
        </p:nvSpPr>
        <p:spPr>
          <a:xfrm>
            <a:off x="6400800" y="1575816"/>
            <a:ext cx="12801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 días</a:t>
            </a:r>
            <a:endParaRPr lang="en-US" sz="1333" dirty="0"/>
          </a:p>
        </p:txBody>
      </p:sp>
      <p:sp>
        <p:nvSpPr>
          <p:cNvPr id="18" name="Text 16"/>
          <p:cNvSpPr/>
          <p:nvPr/>
        </p:nvSpPr>
        <p:spPr>
          <a:xfrm>
            <a:off x="4450080" y="20269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200" dirty="0">
                <a:solidFill>
                  <a:srgbClr val="B8C4D4"/>
                </a:solidFill>
              </a:rPr>
              <a:t> Procesamiento paralelo de etapas</a:t>
            </a:r>
            <a:endParaRPr lang="en-US" sz="1200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200" dirty="0">
                <a:solidFill>
                  <a:srgbClr val="B8C4D4"/>
                </a:solidFill>
              </a:rPr>
              <a:t> Templates de diseño técnico</a:t>
            </a:r>
            <a:endParaRPr lang="en-US" sz="1200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200" dirty="0">
                <a:solidFill>
                  <a:srgbClr val="B8C4D4"/>
                </a:solidFill>
              </a:rPr>
              <a:t> Estandarizar proceso (Lean)</a:t>
            </a:r>
            <a:endParaRPr lang="en-US" sz="1200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200" dirty="0">
                <a:solidFill>
                  <a:srgbClr val="B8C4D4"/>
                </a:solidFill>
              </a:rPr>
              <a:t> Reducir Muda: Espera e Inspección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68640" y="1051560"/>
            <a:ext cx="3596640" cy="2210941"/>
          </a:xfrm>
          <a:prstGeom prst="rect">
            <a:avLst/>
          </a:prstGeom>
          <a:solidFill>
            <a:srgbClr val="1A23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PE" sz="2400"/>
          </a:p>
        </p:txBody>
      </p:sp>
      <p:sp>
        <p:nvSpPr>
          <p:cNvPr id="20" name="Shape 18"/>
          <p:cNvSpPr/>
          <p:nvPr/>
        </p:nvSpPr>
        <p:spPr>
          <a:xfrm>
            <a:off x="8168640" y="1051560"/>
            <a:ext cx="3596640" cy="6096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21" name="Text 19"/>
          <p:cNvSpPr/>
          <p:nvPr/>
        </p:nvSpPr>
        <p:spPr>
          <a:xfrm>
            <a:off x="8314944" y="12100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3: AUTOMATIZACIÓN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14944" y="1575816"/>
            <a:ext cx="1706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40-60 días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241280" y="1575816"/>
            <a:ext cx="1280160" cy="268224"/>
          </a:xfrm>
          <a:prstGeom prst="rect">
            <a:avLst/>
          </a:prstGeom>
          <a:solidFill>
            <a:srgbClr val="27AE60">
              <a:alpha val="20000"/>
            </a:srgbClr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24" name="Text 22"/>
          <p:cNvSpPr/>
          <p:nvPr/>
        </p:nvSpPr>
        <p:spPr>
          <a:xfrm>
            <a:off x="10241280" y="1575816"/>
            <a:ext cx="12801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-15.5 días</a:t>
            </a:r>
            <a:endParaRPr lang="en-US" sz="1333" dirty="0"/>
          </a:p>
        </p:txBody>
      </p:sp>
      <p:sp>
        <p:nvSpPr>
          <p:cNvPr id="25" name="Text 23"/>
          <p:cNvSpPr/>
          <p:nvPr/>
        </p:nvSpPr>
        <p:spPr>
          <a:xfrm>
            <a:off x="8290560" y="20269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200" dirty="0">
                <a:solidFill>
                  <a:srgbClr val="B8C4D4"/>
                </a:solidFill>
              </a:rPr>
              <a:t> Test automation (Selenium)</a:t>
            </a:r>
            <a:endParaRPr lang="en-US" sz="1200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200" dirty="0">
                <a:solidFill>
                  <a:srgbClr val="B8C4D4"/>
                </a:solidFill>
              </a:rPr>
              <a:t> Zero-touch deployment</a:t>
            </a:r>
            <a:endParaRPr lang="en-US" sz="1200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200" dirty="0">
                <a:solidFill>
                  <a:srgbClr val="B8C4D4"/>
                </a:solidFill>
              </a:rPr>
              <a:t> CI/CD completo (Jenkins)</a:t>
            </a:r>
            <a:endParaRPr lang="en-US" sz="1200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200" dirty="0">
                <a:solidFill>
                  <a:srgbClr val="B8C4D4"/>
                </a:solidFill>
              </a:rPr>
              <a:t> Python + n8n workflows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7680" y="3368028"/>
            <a:ext cx="4434611" cy="3093720"/>
          </a:xfrm>
          <a:prstGeom prst="rect">
            <a:avLst/>
          </a:prstGeom>
          <a:solidFill>
            <a:srgbClr val="1A23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PE" sz="2400"/>
          </a:p>
        </p:txBody>
      </p:sp>
      <p:sp>
        <p:nvSpPr>
          <p:cNvPr id="27" name="Text 25"/>
          <p:cNvSpPr/>
          <p:nvPr/>
        </p:nvSpPr>
        <p:spPr>
          <a:xfrm>
            <a:off x="720110" y="3441121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2E7D9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IMPACTO PROYECTADO</a:t>
            </a:r>
            <a:endParaRPr lang="en-US" sz="1333" dirty="0"/>
          </a:p>
        </p:txBody>
      </p:sp>
      <p:sp>
        <p:nvSpPr>
          <p:cNvPr id="28" name="Text 26"/>
          <p:cNvSpPr/>
          <p:nvPr/>
        </p:nvSpPr>
        <p:spPr>
          <a:xfrm>
            <a:off x="605322" y="3653111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46d → 22.5d</a:t>
            </a:r>
            <a:endParaRPr lang="en-US" sz="2133" dirty="0"/>
          </a:p>
        </p:txBody>
      </p:sp>
      <p:sp>
        <p:nvSpPr>
          <p:cNvPr id="29" name="Text 27"/>
          <p:cNvSpPr/>
          <p:nvPr/>
        </p:nvSpPr>
        <p:spPr>
          <a:xfrm>
            <a:off x="605322" y="4262711"/>
            <a:ext cx="2072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00112" y="3745921"/>
            <a:ext cx="0" cy="792480"/>
          </a:xfrm>
          <a:prstGeom prst="line">
            <a:avLst/>
          </a:prstGeom>
          <a:noFill/>
          <a:ln w="12700">
            <a:solidFill>
              <a:srgbClr val="2A3060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31" name="Text 29"/>
          <p:cNvSpPr/>
          <p:nvPr/>
        </p:nvSpPr>
        <p:spPr>
          <a:xfrm>
            <a:off x="2985457" y="3653111"/>
            <a:ext cx="15605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-51.1%</a:t>
            </a:r>
            <a:endParaRPr lang="en-US" sz="2133" dirty="0"/>
          </a:p>
        </p:txBody>
      </p:sp>
      <p:sp>
        <p:nvSpPr>
          <p:cNvPr id="32" name="Text 30"/>
          <p:cNvSpPr/>
          <p:nvPr/>
        </p:nvSpPr>
        <p:spPr>
          <a:xfrm>
            <a:off x="2985456" y="4258851"/>
            <a:ext cx="156057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Total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7680" y="6488718"/>
            <a:ext cx="112166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Villanueva Kobayashi| Business Analytics Consultant | Datos: 6,000 releases BCP (Ene-Jun 2023) | Outputs: Python + Regresión Múltiple</a:t>
            </a:r>
            <a:endParaRPr lang="en-US" sz="1000" dirty="0"/>
          </a:p>
        </p:txBody>
      </p:sp>
      <p:sp>
        <p:nvSpPr>
          <p:cNvPr id="44" name="Text 32">
            <a:extLst>
              <a:ext uri="{FF2B5EF4-FFF2-40B4-BE49-F238E27FC236}">
                <a16:creationId xmlns:a16="http://schemas.microsoft.com/office/drawing/2014/main" id="{17C42817-B827-5F6C-5D7C-79919DA4DAB7}"/>
              </a:ext>
            </a:extLst>
          </p:cNvPr>
          <p:cNvSpPr/>
          <p:nvPr/>
        </p:nvSpPr>
        <p:spPr>
          <a:xfrm>
            <a:off x="649874" y="4652211"/>
            <a:ext cx="182160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2E7D9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16d → 5.5d</a:t>
            </a:r>
            <a:endParaRPr lang="en-US" sz="2133" dirty="0"/>
          </a:p>
        </p:txBody>
      </p:sp>
      <p:sp>
        <p:nvSpPr>
          <p:cNvPr id="45" name="Text 33">
            <a:extLst>
              <a:ext uri="{FF2B5EF4-FFF2-40B4-BE49-F238E27FC236}">
                <a16:creationId xmlns:a16="http://schemas.microsoft.com/office/drawing/2014/main" id="{429DADCF-F4C2-ED3D-99D1-B3135A6EC989}"/>
              </a:ext>
            </a:extLst>
          </p:cNvPr>
          <p:cNvSpPr/>
          <p:nvPr/>
        </p:nvSpPr>
        <p:spPr>
          <a:xfrm>
            <a:off x="617391" y="5159673"/>
            <a:ext cx="2072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(NAV)</a:t>
            </a:r>
            <a:endParaRPr lang="en-US" sz="1200" dirty="0"/>
          </a:p>
        </p:txBody>
      </p:sp>
      <p:sp>
        <p:nvSpPr>
          <p:cNvPr id="46" name="Shape 34">
            <a:extLst>
              <a:ext uri="{FF2B5EF4-FFF2-40B4-BE49-F238E27FC236}">
                <a16:creationId xmlns:a16="http://schemas.microsoft.com/office/drawing/2014/main" id="{6305B9CC-7C4D-E030-EE0A-2673F3AF5310}"/>
              </a:ext>
            </a:extLst>
          </p:cNvPr>
          <p:cNvSpPr/>
          <p:nvPr/>
        </p:nvSpPr>
        <p:spPr>
          <a:xfrm>
            <a:off x="2900112" y="4704671"/>
            <a:ext cx="0" cy="792480"/>
          </a:xfrm>
          <a:prstGeom prst="line">
            <a:avLst/>
          </a:prstGeom>
          <a:noFill/>
          <a:ln w="12700">
            <a:solidFill>
              <a:srgbClr val="2A3060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47" name="Text 35">
            <a:extLst>
              <a:ext uri="{FF2B5EF4-FFF2-40B4-BE49-F238E27FC236}">
                <a16:creationId xmlns:a16="http://schemas.microsoft.com/office/drawing/2014/main" id="{23E56AA9-79D4-182E-D336-ACEAC688AD78}"/>
              </a:ext>
            </a:extLst>
          </p:cNvPr>
          <p:cNvSpPr/>
          <p:nvPr/>
        </p:nvSpPr>
        <p:spPr>
          <a:xfrm>
            <a:off x="3109873" y="4666404"/>
            <a:ext cx="162153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2E7D9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R² = 0.656</a:t>
            </a:r>
            <a:endParaRPr lang="en-US" sz="2133" dirty="0"/>
          </a:p>
        </p:txBody>
      </p:sp>
      <p:sp>
        <p:nvSpPr>
          <p:cNvPr id="48" name="Text 36">
            <a:extLst>
              <a:ext uri="{FF2B5EF4-FFF2-40B4-BE49-F238E27FC236}">
                <a16:creationId xmlns:a16="http://schemas.microsoft.com/office/drawing/2014/main" id="{22F6CA2A-8BA6-96B8-3C81-CFCF0390F7F9}"/>
              </a:ext>
            </a:extLst>
          </p:cNvPr>
          <p:cNvSpPr/>
          <p:nvPr/>
        </p:nvSpPr>
        <p:spPr>
          <a:xfrm>
            <a:off x="2958434" y="5137152"/>
            <a:ext cx="156057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4-Var</a:t>
            </a:r>
            <a:endParaRPr lang="en-US" sz="1200" dirty="0"/>
          </a:p>
        </p:txBody>
      </p:sp>
      <p:sp>
        <p:nvSpPr>
          <p:cNvPr id="50" name="Text 38">
            <a:extLst>
              <a:ext uri="{FF2B5EF4-FFF2-40B4-BE49-F238E27FC236}">
                <a16:creationId xmlns:a16="http://schemas.microsoft.com/office/drawing/2014/main" id="{E9FDD08D-8486-A10C-F68C-683EAB357122}"/>
              </a:ext>
            </a:extLst>
          </p:cNvPr>
          <p:cNvSpPr/>
          <p:nvPr/>
        </p:nvSpPr>
        <p:spPr>
          <a:xfrm>
            <a:off x="783107" y="5563872"/>
            <a:ext cx="187220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+ n8n</a:t>
            </a:r>
            <a:endParaRPr lang="en-US" sz="1867" dirty="0"/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9F744F26-90C6-74C9-89B8-647BA562CA95}"/>
              </a:ext>
            </a:extLst>
          </p:cNvPr>
          <p:cNvSpPr/>
          <p:nvPr/>
        </p:nvSpPr>
        <p:spPr>
          <a:xfrm>
            <a:off x="524355" y="6097823"/>
            <a:ext cx="2072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pic>
        <p:nvPicPr>
          <p:cNvPr id="52" name="Image 0" descr="/sessions/zen-awesome-carson/bcp_pptx/chart_vsm_full.png">
            <a:extLst>
              <a:ext uri="{FF2B5EF4-FFF2-40B4-BE49-F238E27FC236}">
                <a16:creationId xmlns:a16="http://schemas.microsoft.com/office/drawing/2014/main" id="{FEE33A38-99AF-C513-4743-503A16636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216" y="3360037"/>
            <a:ext cx="6576037" cy="310171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BC762C2C7198D43B0B4ABB54C3D7DD3" ma:contentTypeVersion="12" ma:contentTypeDescription="Crear nuevo documento." ma:contentTypeScope="" ma:versionID="67cc91efce9e5832c228c72ff20d811e">
  <xsd:schema xmlns:xsd="http://www.w3.org/2001/XMLSchema" xmlns:xs="http://www.w3.org/2001/XMLSchema" xmlns:p="http://schemas.microsoft.com/office/2006/metadata/properties" xmlns:ns2="92fb47d1-af59-4e2f-83c1-ecc254951736" xmlns:ns3="80a0442f-6f54-4c26-80ae-22768ba5cb04" targetNamespace="http://schemas.microsoft.com/office/2006/metadata/properties" ma:root="true" ma:fieldsID="836fe3e180542d2a820d33f6a52da9f2" ns2:_="" ns3:_="">
    <xsd:import namespace="92fb47d1-af59-4e2f-83c1-ecc254951736"/>
    <xsd:import namespace="80a0442f-6f54-4c26-80ae-22768ba5cb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fb47d1-af59-4e2f-83c1-ecc2549517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99a4d325-e744-4b40-a3b6-bd808253bd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a0442f-6f54-4c26-80ae-22768ba5cb0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9274104-375f-4590-a078-069f2de07f05}" ma:internalName="TaxCatchAll" ma:showField="CatchAllData" ma:web="80a0442f-6f54-4c26-80ae-22768ba5cb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0a0442f-6f54-4c26-80ae-22768ba5cb04" xsi:nil="true"/>
    <lcf76f155ced4ddcb4097134ff3c332f xmlns="92fb47d1-af59-4e2f-83c1-ecc25495173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956D66C-46A5-49B5-BB40-730CC55081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2fb47d1-af59-4e2f-83c1-ecc254951736"/>
    <ds:schemaRef ds:uri="80a0442f-6f54-4c26-80ae-22768ba5cb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432F804-7629-4A2B-926A-9A00D456D2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B68D37-5373-49B8-8791-DE031BA427E7}">
  <ds:schemaRefs>
    <ds:schemaRef ds:uri="http://purl.org/dc/terms/"/>
    <ds:schemaRef ds:uri="b7c86113-5c1f-482d-8770-621ecb36f395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4fe1bd91-5559-4cf3-9fd3-ab0931cf51be"/>
    <ds:schemaRef ds:uri="http://purl.org/dc/dcmitype/"/>
    <ds:schemaRef ds:uri="80a0442f-6f54-4c26-80ae-22768ba5cb04"/>
    <ds:schemaRef ds:uri="92fb47d1-af59-4e2f-83c1-ecc254951736"/>
  </ds:schemaRefs>
</ds:datastoreItem>
</file>

<file path=docMetadata/LabelInfo.xml><?xml version="1.0" encoding="utf-8"?>
<clbl:labelList xmlns:clbl="http://schemas.microsoft.com/office/2020/mipLabelMetadata">
  <clbl:label id="{c15ead3b-a842-409e-8059-3e3468c48585}" enabled="1" method="Standard" siteId="{5d93ebcc-f769-4380-8b7e-289fc972da1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390</TotalTime>
  <Words>841</Words>
  <Application>Microsoft Office PowerPoint</Application>
  <PresentationFormat>Panorámica</PresentationFormat>
  <Paragraphs>138</Paragraphs>
  <Slides>6</Slides>
  <Notes>3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Arial Black</vt:lpstr>
      <vt:lpstr>Calibri</vt:lpstr>
      <vt:lpstr>Flexo</vt:lpstr>
      <vt:lpstr>Office Theme</vt:lpstr>
      <vt:lpstr>Diapositiva de think-cell</vt:lpstr>
      <vt:lpstr>Business Consulting &amp; BPM</vt:lpstr>
      <vt:lpstr>Sección 1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COE Business Consulting &amp; Process Automation</dc:title>
  <dc:creator>Jose Galvez Agurto</dc:creator>
  <cp:lastModifiedBy>Alvaro Villanueva</cp:lastModifiedBy>
  <cp:revision>7</cp:revision>
  <dcterms:created xsi:type="dcterms:W3CDTF">2023-07-06T13:10:25Z</dcterms:created>
  <dcterms:modified xsi:type="dcterms:W3CDTF">2026-05-12T00:59:06Z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0x0101007BC762C2C7198D43B0B4ABB54C3D7DD3</vt:lpwstr>
  </property>
  <property fmtid="{D5CDD505-2E9C-101B-9397-08002B2CF9AE}" pid="3" name="MSIP_Label_c15ead3b-a842-409e-8059-3e3468c48585_Enabled">
    <vt:lpwstr>true</vt:lpwstr>
  </property>
  <property fmtid="{D5CDD505-2E9C-101B-9397-08002B2CF9AE}" pid="4" name="MSIP_Label_c15ead3b-a842-409e-8059-3e3468c48585_SetDate">
    <vt:lpwstr>2023-08-01T19:02:44Z</vt:lpwstr>
  </property>
  <property fmtid="{D5CDD505-2E9C-101B-9397-08002B2CF9AE}" pid="5" name="MSIP_Label_c15ead3b-a842-409e-8059-3e3468c48585_Method">
    <vt:lpwstr>Standard</vt:lpwstr>
  </property>
  <property fmtid="{D5CDD505-2E9C-101B-9397-08002B2CF9AE}" pid="6" name="MSIP_Label_c15ead3b-a842-409e-8059-3e3468c48585_Name">
    <vt:lpwstr>Interna BCP</vt:lpwstr>
  </property>
  <property fmtid="{D5CDD505-2E9C-101B-9397-08002B2CF9AE}" pid="7" name="MSIP_Label_c15ead3b-a842-409e-8059-3e3468c48585_SiteId">
    <vt:lpwstr>5d93ebcc-f769-4380-8b7e-289fc972da1b</vt:lpwstr>
  </property>
  <property fmtid="{D5CDD505-2E9C-101B-9397-08002B2CF9AE}" pid="8" name="MSIP_Label_c15ead3b-a842-409e-8059-3e3468c48585_ActionId">
    <vt:lpwstr>b116f648-316e-49cb-b34f-5222c1c12979</vt:lpwstr>
  </property>
  <property fmtid="{D5CDD505-2E9C-101B-9397-08002B2CF9AE}" pid="9" name="MSIP_Label_c15ead3b-a842-409e-8059-3e3468c48585_ContentBits">
    <vt:lpwstr>2</vt:lpwstr>
  </property>
  <property fmtid="{D5CDD505-2E9C-101B-9397-08002B2CF9AE}" pid="10" name="ClassificationContentMarkingFooterLocations">
    <vt:lpwstr>MatrixVTI:8</vt:lpwstr>
  </property>
  <property fmtid="{D5CDD505-2E9C-101B-9397-08002B2CF9AE}" pid="11" name="ClassificationContentMarkingFooterText">
    <vt:lpwstr>Datos elaborados por BCP para uso Interno</vt:lpwstr>
  </property>
  <property fmtid="{D5CDD505-2E9C-101B-9397-08002B2CF9AE}" pid="12" name="MediaServiceImageTags">
    <vt:lpwstr/>
  </property>
</Properties>
</file>